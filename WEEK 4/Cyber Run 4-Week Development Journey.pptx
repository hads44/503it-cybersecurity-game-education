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Poppins"/>
      <p:regular r:id="rId24"/>
      <p:bold r:id="rId25"/>
      <p:italic r:id="rId26"/>
      <p:boldItalic r:id="rId27"/>
    </p:embeddedFont>
    <p:embeddedFont>
      <p:font typeface="Lato Light"/>
      <p:regular r:id="rId28"/>
      <p:bold r:id="rId29"/>
      <p:italic r:id="rId30"/>
      <p:boldItalic r:id="rId31"/>
    </p:embeddedFont>
    <p:embeddedFont>
      <p:font typeface="Poppins ExtraBold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Poppins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LatoLight-regular.fntdata"/><Relationship Id="rId27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Ligh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Light-boldItalic.fntdata"/><Relationship Id="rId30" Type="http://schemas.openxmlformats.org/officeDocument/2006/relationships/font" Target="fonts/LatoLight-italic.fntdata"/><Relationship Id="rId11" Type="http://schemas.openxmlformats.org/officeDocument/2006/relationships/slide" Target="slides/slide6.xml"/><Relationship Id="rId33" Type="http://schemas.openxmlformats.org/officeDocument/2006/relationships/font" Target="fonts/PoppinsExtraBold-boldItalic.fntdata"/><Relationship Id="rId10" Type="http://schemas.openxmlformats.org/officeDocument/2006/relationships/slide" Target="slides/slide5.xml"/><Relationship Id="rId32" Type="http://schemas.openxmlformats.org/officeDocument/2006/relationships/font" Target="fonts/PoppinsExtra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58096ad9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e58096ad91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1447800" y="3186095"/>
            <a:ext cx="3057600" cy="554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Team &amp; Role Allocation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Formed 'The Avengers' &amp; assigned project jobs.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5" name="Google Shape;45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9" Type="http://schemas.openxmlformats.org/officeDocument/2006/relationships/image" Target="../media/image9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4.png"/><Relationship Id="rId8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20.png"/><Relationship Id="rId8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8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171825" y="2377380"/>
            <a:ext cx="58483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503IT COMMUNICATION &amp; COLLABORATION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25616" y="2701230"/>
            <a:ext cx="6140767" cy="6076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CYBER RUN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71825" y="3499395"/>
            <a:ext cx="5848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CA3AF"/>
                </a:solidFill>
                <a:latin typeface="Lato Light"/>
                <a:ea typeface="Lato Light"/>
                <a:cs typeface="Lato Light"/>
                <a:sym typeface="Lato Light"/>
              </a:rPr>
              <a:t>A 4-Week Journey Developing a Gamified Phishing Awareness Platform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71825" y="4166145"/>
            <a:ext cx="5848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The Avenger • Vivek, Hangma, Hadshen, Swastika, Arbaaz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52887"/>
            <a:ext cx="5324474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71750"/>
            <a:ext cx="5324474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00475"/>
            <a:ext cx="5324474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2319337"/>
            <a:ext cx="5324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Project Ignition Tasks: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781050" y="3024175"/>
            <a:ext cx="53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</a:t>
            </a:r>
            <a:r>
              <a:rPr lang="en-US" sz="3600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1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81050" y="4252912"/>
            <a:ext cx="57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543050" y="4414837"/>
            <a:ext cx="3448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Audience Alignment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Targeted 18-25 university students for anti-phishing.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486525" y="2771775"/>
            <a:ext cx="59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7267575" y="2933700"/>
            <a:ext cx="232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Git Organization</a:t>
            </a:r>
            <a:br>
              <a:rPr b="0" i="0" lang="en-US" sz="1800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Structured shared repository setup.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486525" y="4000500"/>
            <a:ext cx="61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296150" y="4071937"/>
            <a:ext cx="411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Project Plan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Established deliverables, loops, and timeline milestone formulas.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23900" y="485775"/>
            <a:ext cx="11431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1 AT A GLANCE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" y="2770224"/>
            <a:ext cx="5324474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1595775" y="3073575"/>
            <a:ext cx="3672300" cy="6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200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Team &amp; Role Allocation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Formed 'The Avengers' &amp; assigned project jobs.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0800"/>
            <a:ext cx="53244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90800"/>
            <a:ext cx="5324475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238250" y="2886075"/>
            <a:ext cx="4590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The Cyber Run </a:t>
            </a:r>
            <a:r>
              <a:rPr b="1" lang="en-US" sz="1650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game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3343275"/>
            <a:ext cx="473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Designed to help bridge the knowledge gap in traditional, dry </a:t>
            </a:r>
            <a:r>
              <a:rPr lang="en-US" sz="120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cyber security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modules.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76300" y="391477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University networks suffer high-frequency phishing links. We decided to target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18-25 year-olds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using a retro endless-runner concept to deliver intuitive security testing.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886575" y="2886075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Learning Objectives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81775" y="3343275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Instruct players on how to quickly spot fraudulent subdomains, identify suspicious senders, and practice instant reporting protocols.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81775" y="3914775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Constructed a gamified model: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Spot malicious trap → Quick reaction choice → Live Bytebot visual explanation.</a:t>
            </a:r>
            <a:endParaRPr/>
          </a:p>
        </p:txBody>
      </p:sp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938462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938462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PROJECT IGNITION: THE VISION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050" y="-9670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581025" y="2771775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To support solid developer collaboration, we established professional-grade version control protocols: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771525" y="3343275"/>
            <a:ext cx="5133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GitHub Repository Architecture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setup with isolated developer branches.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771525" y="368617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Created the initial codebase environment mapping main assets and stylesheet configs.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425767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Synchronized team meetings: Vivek (Tech Lead), Hadshen (Scribe), Hangma (UX / Presentation), Swastika (Appendices).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81025" y="33432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81025" y="36861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42576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INFRASTRUCTURE &amp; TEAM GIT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05500" y="2007937"/>
            <a:ext cx="6093050" cy="3127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4162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52887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71750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00475"/>
            <a:ext cx="53244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581025" y="2319337"/>
            <a:ext cx="5324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UX Evolution &amp; Prototyping Tasks: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781050" y="3024175"/>
            <a:ext cx="59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1447800" y="3186112"/>
            <a:ext cx="2428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Storyboard Drafting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Created interactive 6-frame UI flows.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81050" y="4252912"/>
            <a:ext cx="57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1543050" y="4414837"/>
            <a:ext cx="2886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Tool Selection Workshops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Evaluated Scratch vs Construct 3 vs HTML5.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486525" y="2771775"/>
            <a:ext cx="5905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7267575" y="2933700"/>
            <a:ext cx="25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Prototype Planning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Mapped core loop and scoring systems.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486525" y="4000500"/>
            <a:ext cx="61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7296150" y="4162425"/>
            <a:ext cx="2381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Initial Coding Sprint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Drafted CSS/JS layouts for the game.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2 AT A GLANCE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2714625"/>
            <a:ext cx="53244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As documented in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503IT Week2 Session1 UX Activity.docx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we shifted our design focus to the player experience.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581025" y="3286125"/>
            <a:ext cx="5324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We finalized a high-contrast 6-frame storyboard displaying: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771525" y="3629025"/>
            <a:ext cx="5133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Intuitive Onboarding: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Seamless tutorial rules explaining score, lives, and timer.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771525" y="397192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Dynamic Decision Space: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Large, accessible response buttons (SCAM vs REAL) to limit visual strain.</a:t>
            </a:r>
            <a:endParaRPr/>
          </a:p>
        </p:txBody>
      </p:sp>
      <p:sp>
        <p:nvSpPr>
          <p:cNvPr id="171" name="Google Shape;171;p18"/>
          <p:cNvSpPr txBox="1"/>
          <p:nvPr/>
        </p:nvSpPr>
        <p:spPr>
          <a:xfrm>
            <a:off x="771525" y="4543425"/>
            <a:ext cx="5133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Bytebot Dialogue Prompts: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Prompt, contextual popup feedback.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581025" y="36290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81025" y="39719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81025" y="454342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UX STORYBOARDING &amp; INTERFACE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6200" y="1982463"/>
            <a:ext cx="5773825" cy="317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8925"/>
            <a:ext cx="3761779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80929" y="2828925"/>
            <a:ext cx="3423046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2101" y="2828925"/>
            <a:ext cx="3368873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581025" y="2133600"/>
            <a:ext cx="110299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Following structured evaluations inside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503IT Week2 Session2 .docx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503IT Week2 Session1 UX Activity (1).docx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the team prioritized rapid delivery and maximum access: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876300" y="3686175"/>
            <a:ext cx="332979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HTML5 / CSS / JS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876300" y="4143375"/>
            <a:ext cx="3171229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Selected as our main technology. Ensures responsive cross-device performance and simple integration with our existing GitHub pipelines.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4876204" y="3686175"/>
            <a:ext cx="29741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Construct 3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4876204" y="4143375"/>
            <a:ext cx="2832496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Considered for advanced game dynamics but rejected due to commercial licensing restrictions and code control difficulties.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37376" y="3686175"/>
            <a:ext cx="2917239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Canva &amp; Figma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8537376" y="4143375"/>
            <a:ext cx="2778323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Assigned strictly for mockup refinement, interface color contrast checks, and supporting storytelling storyboard designs.</a:t>
            </a:r>
            <a:endParaRPr/>
          </a:p>
        </p:txBody>
      </p:sp>
      <p:pic>
        <p:nvPicPr>
          <p:cNvPr descr="image.png" id="193" name="Google Shape;193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171825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4" name="Google Shape;194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6204" y="317182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5" name="Google Shape;195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37376" y="317182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TOOL COMPARISON &amp; DECISION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4162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52887"/>
            <a:ext cx="5324474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71750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00475"/>
            <a:ext cx="53244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81025" y="2319337"/>
            <a:ext cx="5324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Mechanics &amp; Scenario Logic Tasks: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781050" y="3024175"/>
            <a:ext cx="57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1447800" y="3186112"/>
            <a:ext cx="3057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Advanced Scenario Engine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Engineered pop-ups for random phishing lures.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781050" y="4252912"/>
            <a:ext cx="57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1543050" y="4414837"/>
            <a:ext cx="2571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Countdown Implementation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dded 5-second dynamic action timers.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6486525" y="2771775"/>
            <a:ext cx="5905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7267575" y="2933700"/>
            <a:ext cx="254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Playtesting Loops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Resolved rapid click heart-loss glitch</a:t>
            </a: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486525" y="4000500"/>
            <a:ext cx="61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7296150" y="4162425"/>
            <a:ext cx="2695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Appendix Mapping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Indexed team deliverables systematically.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3 AT A GLANCE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2" name="Google Shape;22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81262"/>
            <a:ext cx="3611463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30613" y="2481262"/>
            <a:ext cx="3472904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1642" y="2481262"/>
            <a:ext cx="3469332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 txBox="1"/>
          <p:nvPr/>
        </p:nvSpPr>
        <p:spPr>
          <a:xfrm>
            <a:off x="876300" y="3338512"/>
            <a:ext cx="317195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5-Second Clock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876300" y="3795712"/>
            <a:ext cx="3020913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Introduced a countdown bar mimicking the rapid urgency of clicking malicious email campaigns, building instant threat instincts.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4725888" y="3338512"/>
            <a:ext cx="3026472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Decision Core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4725888" y="3795712"/>
            <a:ext cx="288235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Engineered isolated JS listeners assessing state parameters (Lives, Points, Badges) instantly reflecting player performance.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436917" y="3338512"/>
            <a:ext cx="302272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Debounce Filters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436917" y="3795712"/>
            <a:ext cx="287878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Fixed critical double-click scoring bugs. Implemented state lockout timers to maintain continuous structural play integrity.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824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25888" y="282416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36917" y="2824162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1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SCENARIO LOGIC &amp; GAMEPLAY</a:t>
            </a:r>
            <a:endParaRPr/>
          </a:p>
        </p:txBody>
      </p:sp>
      <p:sp>
        <p:nvSpPr>
          <p:cNvPr id="236" name="Google Shape;236;p21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57487"/>
            <a:ext cx="5324475" cy="2085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 txBox="1"/>
          <p:nvPr/>
        </p:nvSpPr>
        <p:spPr>
          <a:xfrm>
            <a:off x="581025" y="2657475"/>
            <a:ext cx="532447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Guided by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503IT_Week3_Student_Task_Development_Presentation_Portfolio (1).docx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, we mapped our codebase milestones directly into visual portfolio evidence: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6915150" y="3052762"/>
            <a:ext cx="462057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Portfolio Appendix Strategy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6581775" y="3462337"/>
            <a:ext cx="47339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Appendix 1.1 - 1.3: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Team Weekly Minutes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6581775" y="3752850"/>
            <a:ext cx="47339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Appendix 2.1 - 2.2: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UX Canvas &amp; Storyboards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6581775" y="4043362"/>
            <a:ext cx="47339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Appendix 3.1 - 3.2: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Version 1 &amp; 2 Prototype links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6581775" y="4333875"/>
            <a:ext cx="4733925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Appendix 4.1:</a:t>
            </a:r>
            <a:r>
              <a:rPr b="0" i="0" lang="en-US" sz="1125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Peer Feedback Evaluations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771525" y="3457575"/>
            <a:ext cx="5133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Tested internal prototype response speed across mobile and desktop.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71525" y="380047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Developed an interactive, verified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Appendix Map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linking git code commits to project minutes.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771525" y="4371975"/>
            <a:ext cx="51339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Prepared the 15-minute presentation speaking slots to highlight personal development outcomes.</a:t>
            </a:r>
            <a:endParaRPr/>
          </a:p>
        </p:txBody>
      </p:sp>
      <p:pic>
        <p:nvPicPr>
          <p:cNvPr descr="image.png" id="252" name="Google Shape;25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1775" y="3105150"/>
            <a:ext cx="2381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2"/>
          <p:cNvSpPr txBox="1"/>
          <p:nvPr/>
        </p:nvSpPr>
        <p:spPr>
          <a:xfrm>
            <a:off x="581025" y="34575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581025" y="38004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81025" y="4371975"/>
            <a:ext cx="5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C4899"/>
                </a:solidFill>
                <a:latin typeface="Lato"/>
                <a:ea typeface="Lato"/>
                <a:cs typeface="Lato"/>
                <a:sym typeface="Lato"/>
              </a:rPr>
              <a:t>▪</a:t>
            </a: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TESTING &amp; PORTFOLIO EVIDENCE</a:t>
            </a: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2" name="Google Shape;26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824162"/>
            <a:ext cx="5324474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52887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71750"/>
            <a:ext cx="53244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800475"/>
            <a:ext cx="53244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581025" y="2319337"/>
            <a:ext cx="53244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Polish, Optimize &amp; Deployment Tasks:</a:t>
            </a:r>
            <a:endParaRPr/>
          </a:p>
        </p:txBody>
      </p:sp>
      <p:sp>
        <p:nvSpPr>
          <p:cNvPr id="268" name="Google Shape;268;p23"/>
          <p:cNvSpPr txBox="1"/>
          <p:nvPr/>
        </p:nvSpPr>
        <p:spPr>
          <a:xfrm>
            <a:off x="781050" y="3024175"/>
            <a:ext cx="57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01</a:t>
            </a:r>
            <a:endParaRPr/>
          </a:p>
        </p:txBody>
      </p:sp>
      <p:sp>
        <p:nvSpPr>
          <p:cNvPr id="269" name="Google Shape;269;p23"/>
          <p:cNvSpPr txBox="1"/>
          <p:nvPr/>
        </p:nvSpPr>
        <p:spPr>
          <a:xfrm>
            <a:off x="1447800" y="3186112"/>
            <a:ext cx="284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Accessibility Tuning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Upgraded text contrast to AAA compliance.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0" name="Google Shape;270;p23"/>
          <p:cNvSpPr txBox="1"/>
          <p:nvPr/>
        </p:nvSpPr>
        <p:spPr>
          <a:xfrm>
            <a:off x="781050" y="4252912"/>
            <a:ext cx="571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02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1543050" y="4414837"/>
            <a:ext cx="2438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Performance Diagnostics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Tested scenario loader latency scores.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6486525" y="2771775"/>
            <a:ext cx="5905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03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7267575" y="2933700"/>
            <a:ext cx="300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Cross-Browser Debugging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Ensured perfect rendering on modern engines.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6486525" y="4000500"/>
            <a:ext cx="6191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F0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04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7296150" y="4162425"/>
            <a:ext cx="3162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Deliverables Compilation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2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Exported code packages to GitHub organization.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WEEK 4 AT A GLANCE</a:t>
            </a:r>
            <a:endParaRPr/>
          </a:p>
        </p:txBody>
      </p:sp>
      <p:sp>
        <p:nvSpPr>
          <p:cNvPr id="277" name="Google Shape;277;p23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0800"/>
            <a:ext cx="53244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590800"/>
            <a:ext cx="5324475" cy="241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4"/>
          <p:cNvSpPr txBox="1"/>
          <p:nvPr/>
        </p:nvSpPr>
        <p:spPr>
          <a:xfrm>
            <a:off x="1181100" y="2886075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Universal Design Adjustments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876300" y="3343275"/>
            <a:ext cx="473392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Applied clear visual feedback from our peer testing groups. Added bright green success highlights and strong red warning glows surrounding interactive dialogue windows.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876300" y="4143375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Ensured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AAA contrast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ratios, prioritizing clean viewing on diverse portable devices.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6838950" y="2886075"/>
            <a:ext cx="4700587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0F0FF"/>
                </a:solidFill>
                <a:latin typeface="Poppins"/>
                <a:ea typeface="Poppins"/>
                <a:cs typeface="Poppins"/>
                <a:sym typeface="Poppins"/>
              </a:rPr>
              <a:t>Presentation Compilation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6581775" y="3343275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Synchronized slides with details directly from our </a:t>
            </a:r>
            <a:r>
              <a:rPr b="0" i="0" lang="en-US" sz="12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CYBER RUN Development Showcase - Google Slides.pdf</a:t>
            </a: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 master portfolio.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6581775" y="3914775"/>
            <a:ext cx="47339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Ensured precise synchronization of speaking points for our team's showcase run.</a:t>
            </a:r>
            <a:endParaRPr/>
          </a:p>
        </p:txBody>
      </p:sp>
      <p:pic>
        <p:nvPicPr>
          <p:cNvPr descr="image.png" id="291" name="Google Shape;29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2938462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81775" y="2938462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4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SYSTEM POLISH &amp; OPTIMIZATION</a:t>
            </a:r>
            <a:endParaRPr/>
          </a:p>
        </p:txBody>
      </p:sp>
      <p:sp>
        <p:nvSpPr>
          <p:cNvPr id="294" name="Google Shape;294;p24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228725"/>
            <a:ext cx="1102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176337" y="4414837"/>
            <a:ext cx="98393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Final performance sprints successfully optimized randomized scenario script injection and updated CSS grid configurations for diverse viewport targets.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723900" y="485775"/>
            <a:ext cx="1143142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PERFORMANCE DIAGNOSTICS</a:t>
            </a:r>
            <a:endParaRPr/>
          </a:p>
        </p:txBody>
      </p:sp>
      <p:sp>
        <p:nvSpPr>
          <p:cNvPr id="303" name="Google Shape;303;p25"/>
          <p:cNvSpPr/>
          <p:nvPr/>
        </p:nvSpPr>
        <p:spPr>
          <a:xfrm>
            <a:off x="581025" y="485775"/>
            <a:ext cx="38100" cy="457200"/>
          </a:xfrm>
          <a:prstGeom prst="rect">
            <a:avLst/>
          </a:prstGeom>
          <a:solidFill>
            <a:srgbClr val="00F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8" name="Google Shape;30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2362" y="4114800"/>
            <a:ext cx="486727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2115500" y="2314575"/>
            <a:ext cx="79611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 for exploring our 4-week Cyber Run development journey.</a:t>
            </a:r>
            <a:endParaRPr b="1" sz="3500">
              <a:solidFill>
                <a:schemeClr val="lt1"/>
              </a:solidFill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2305050" y="3486150"/>
            <a:ext cx="758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6"/>
          <p:cNvSpPr txBox="1"/>
          <p:nvPr/>
        </p:nvSpPr>
        <p:spPr>
          <a:xfrm>
            <a:off x="3662362" y="4314825"/>
            <a:ext cx="1162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F0FF"/>
                </a:solidFill>
                <a:latin typeface="Lato"/>
                <a:ea typeface="Lato"/>
                <a:cs typeface="Lato"/>
                <a:sym typeface="Lato"/>
              </a:rPr>
              <a:t>The Avengers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